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3"/>
    <p:sldId id="257" r:id="rId4"/>
    <p:sldId id="259" r:id="rId5"/>
    <p:sldId id="261" r:id="rId6"/>
    <p:sldId id="264" r:id="rId7"/>
    <p:sldId id="265" r:id="rId8"/>
    <p:sldId id="301" r:id="rId9"/>
    <p:sldId id="266" r:id="rId10"/>
    <p:sldId id="267" r:id="rId11"/>
    <p:sldId id="302" r:id="rId12"/>
    <p:sldId id="303" r:id="rId13"/>
    <p:sldId id="270" r:id="rId14"/>
    <p:sldId id="271" r:id="rId15"/>
    <p:sldId id="30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91" d="100"/>
          <a:sy n="91" d="100"/>
        </p:scale>
        <p:origin x="78" y="228"/>
      </p:cViewPr>
      <p:guideLst>
        <p:guide orient="horz" pos="2160"/>
        <p:guide pos="288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69EFC2-1EBA-4140-9276-39E90CE729C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190342-71B3-4F04-BBB4-A49FCA6592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5.jpeg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8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21277" y="1525651"/>
            <a:ext cx="7121571" cy="2085975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54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企业AI助手平台的开发</a:t>
            </a:r>
            <a:endParaRPr lang="en-US" sz="54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140326" y="3733800"/>
            <a:ext cx="3507874" cy="1656577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>
              <a:lnSpc>
                <a:spcPct val="120000"/>
              </a:lnSpc>
            </a:pPr>
            <a:endParaRPr lang="en-US" sz="2025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25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班级：软件工程</a:t>
            </a:r>
            <a:r>
              <a:rPr lang="en-US" altLang="zh-CN" sz="2025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2021-01</a:t>
            </a:r>
            <a:r>
              <a:rPr lang="zh-CN" altLang="en-US" sz="2025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</a:t>
            </a:r>
            <a:endParaRPr lang="en-US" sz="2025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en-US" sz="2025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</a:t>
            </a:r>
            <a:r>
              <a:rPr lang="zh-CN" altLang="en-US" sz="2025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报人</a:t>
            </a:r>
            <a:r>
              <a:rPr lang="en-US" sz="2025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2025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赵光晶</a:t>
            </a:r>
            <a:endParaRPr lang="en-US" altLang="zh-CN" sz="2025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25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指导老师：王波</a:t>
            </a:r>
            <a:endParaRPr lang="en-US" sz="2025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140327" y="5416866"/>
            <a:ext cx="3371850" cy="504825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025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2024-12-</a:t>
            </a:r>
            <a:r>
              <a:rPr lang="en-US" altLang="zh-CN" sz="2025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lang="en-US" sz="2025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218658" y="969872"/>
            <a:ext cx="6733634" cy="5121354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zh-CN" altLang="en-US" sz="24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实现目标</a:t>
            </a:r>
            <a:endParaRPr lang="en-US" sz="240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zh-CN" altLang="en-US" sz="24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功能结构</a:t>
            </a:r>
            <a:endParaRPr lang="en-US" sz="240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zh-CN" altLang="en-US" sz="24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技术栈</a:t>
            </a:r>
            <a:endParaRPr lang="en-US" sz="240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zh-CN" altLang="en-US" sz="24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可能存在的问题</a:t>
            </a:r>
            <a:endParaRPr lang="en-US" sz="240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0" y="-97435"/>
            <a:ext cx="9411839" cy="1680832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9600" b="1">
                <a:solidFill>
                  <a:srgbClr val="FFFFFF">
                    <a:alpha val="8627"/>
                    <a:alpha val="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CATALOGUE</a:t>
            </a:r>
            <a:endParaRPr lang="en-US" sz="9600" b="1">
              <a:solidFill>
                <a:srgbClr val="FFFFFF">
                  <a:alpha val="8627"/>
                  <a:alpha val="9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68281" y="742980"/>
            <a:ext cx="3679714" cy="9772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5400" b="1">
                <a:solidFill>
                  <a:srgbClr val="A2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  录</a:t>
            </a:r>
            <a:endParaRPr lang="en-US" sz="5400" b="1">
              <a:solidFill>
                <a:srgbClr val="A2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7007" y="-112149"/>
            <a:ext cx="2051957" cy="1842306"/>
          </a:xfrm>
          <a:prstGeom prst="rect">
            <a:avLst/>
          </a:prstGeom>
        </p:spPr>
        <p:txBody>
          <a:bodyPr vert="horz" wrap="square" lIns="114300" tIns="57150" rIns="114300" bIns="57150" rtlCol="0" anchor="b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sz="6600" b="1">
                <a:solidFill>
                  <a:srgbClr val="A2FFFF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lang="en-US" sz="6600" b="1">
              <a:solidFill>
                <a:srgbClr val="A2FFFF">
                  <a:alpha val="100000"/>
                </a:srgbClr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470902" y="-102387"/>
            <a:ext cx="3926719" cy="1842306"/>
          </a:xfrm>
          <a:prstGeom prst="rect">
            <a:avLst/>
          </a:prstGeom>
        </p:spPr>
        <p:txBody>
          <a:bodyPr vert="horz" wrap="square" lIns="114300" tIns="57150" rIns="114300" bIns="57150" rtlCol="0" anchor="b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sz="6600" b="1">
                <a:solidFill>
                  <a:srgbClr val="A2FFFF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</a:t>
            </a:r>
            <a:endParaRPr lang="en-US" sz="6600" b="1">
              <a:solidFill>
                <a:srgbClr val="A2FFFF">
                  <a:alpha val="100000"/>
                </a:srgbClr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986130" y="1852017"/>
            <a:ext cx="8920950" cy="2326114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45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实现目标</a:t>
            </a:r>
            <a:endParaRPr lang="en-US" sz="4500" b="1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5258" r="15258"/>
          <a:stretch>
            <a:fillRect/>
          </a:stretch>
        </p:blipFill>
        <p:spPr>
          <a:xfrm>
            <a:off x="6279191" y="1523331"/>
            <a:ext cx="5083851" cy="4877691"/>
          </a:xfrm>
          <a:prstGeom prst="rect">
            <a:avLst/>
          </a:prstGeom>
        </p:spPr>
      </p:pic>
      <p:sp>
        <p:nvSpPr>
          <p:cNvPr id="3" name="TextBox 3"/>
          <p:cNvSpPr txBox="1"/>
          <p:nvPr>
            <p:custDataLst>
              <p:tags r:id="rId3"/>
            </p:custDataLst>
          </p:nvPr>
        </p:nvSpPr>
        <p:spPr>
          <a:xfrm>
            <a:off x="657248" y="1468705"/>
            <a:ext cx="5034045" cy="598924"/>
          </a:xfrm>
          <a:prstGeom prst="rect">
            <a:avLst/>
          </a:prstGeom>
        </p:spPr>
        <p:txBody>
          <a:bodyPr vert="horz" wrap="square" lIns="66008" tIns="33052" rIns="66008" bIns="33052" rtlCol="0" anchor="b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000" b="1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提高生产效率</a:t>
            </a:r>
            <a:endParaRPr lang="en-US" sz="2000" b="1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4"/>
          <p:cNvSpPr txBox="1"/>
          <p:nvPr>
            <p:custDataLst>
              <p:tags r:id="rId4"/>
            </p:custDataLst>
          </p:nvPr>
        </p:nvSpPr>
        <p:spPr>
          <a:xfrm>
            <a:off x="657248" y="2091428"/>
            <a:ext cx="5034045" cy="819445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通过自动化处理企业日常任务，减少人工操作，提高生产效率。</a:t>
            </a:r>
            <a:endParaRPr lang="en-US" sz="1500" dirty="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5"/>
            </p:custDataLst>
          </p:nvPr>
        </p:nvSpPr>
        <p:spPr>
          <a:xfrm>
            <a:off x="657248" y="2585541"/>
            <a:ext cx="5034045" cy="558203"/>
          </a:xfrm>
          <a:prstGeom prst="rect">
            <a:avLst/>
          </a:prstGeom>
        </p:spPr>
        <p:txBody>
          <a:bodyPr vert="horz" wrap="square" lIns="66008" tIns="33052" rIns="66008" bIns="33052" rtlCol="0" anchor="b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000" b="1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优化业务流程</a:t>
            </a:r>
            <a:endParaRPr lang="en-US" sz="2000" b="1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6"/>
            </p:custDataLst>
          </p:nvPr>
        </p:nvSpPr>
        <p:spPr>
          <a:xfrm>
            <a:off x="685800" y="3159206"/>
            <a:ext cx="5034045" cy="796566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</a:t>
            </a:r>
            <a:r>
              <a:rPr lang="en-US" altLang="zh-CN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助手深度融入企业业务流程，帮助企业实现流程优化和升级。</a:t>
            </a:r>
            <a:endParaRPr lang="en-US" sz="1500" dirty="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7"/>
          <p:cNvSpPr txBox="1"/>
          <p:nvPr>
            <p:custDataLst>
              <p:tags r:id="rId7"/>
            </p:custDataLst>
          </p:nvPr>
        </p:nvSpPr>
        <p:spPr>
          <a:xfrm>
            <a:off x="633600" y="3662714"/>
            <a:ext cx="5034045" cy="598924"/>
          </a:xfrm>
          <a:prstGeom prst="rect">
            <a:avLst/>
          </a:prstGeom>
        </p:spPr>
        <p:txBody>
          <a:bodyPr vert="horz" wrap="square" lIns="66008" tIns="33052" rIns="66008" bIns="33052" rtlCol="0" anchor="b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000" b="1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快速响应市场变化</a:t>
            </a:r>
            <a:endParaRPr lang="en-US" sz="2000" b="1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8"/>
          <p:cNvSpPr txBox="1"/>
          <p:nvPr>
            <p:custDataLst>
              <p:tags r:id="rId8"/>
            </p:custDataLst>
          </p:nvPr>
        </p:nvSpPr>
        <p:spPr>
          <a:xfrm>
            <a:off x="657248" y="4235321"/>
            <a:ext cx="5034045" cy="819445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500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提供灵活的定制化和配置能力，使企业能够快速适应市场变化。</a:t>
            </a:r>
            <a:endParaRPr lang="en-US" sz="1500" dirty="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 dirty="0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实现的目标</a:t>
            </a:r>
            <a:endParaRPr lang="en-US" sz="3000" b="1" dirty="0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9144095" y="2311241"/>
            <a:ext cx="41815" cy="41148"/>
          </a:xfrm>
          <a:prstGeom prst="ellipse">
            <a:avLst/>
          </a:prstGeom>
          <a:solidFill>
            <a:srgbClr val="E9E9E9">
              <a:alpha val="100000"/>
            </a:srgbClr>
          </a:solidFill>
        </p:spPr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609600" y="4890351"/>
            <a:ext cx="6096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000" b="1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灵活选择不同</a:t>
            </a:r>
            <a:r>
              <a:rPr lang="zh-CN" altLang="en-US" sz="2000" b="1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endParaRPr lang="zh-CN" altLang="en-US" sz="2000" b="1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602129" y="5188097"/>
            <a:ext cx="609600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通过平台预置扩展，结合实际业务场景自由选择不同模型，构建更强大</a:t>
            </a:r>
            <a:r>
              <a:rPr lang="zh-CN" alt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专业的</a:t>
            </a:r>
            <a:r>
              <a:rPr lang="en-US" altLang="zh-CN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助手</a:t>
            </a:r>
            <a:endParaRPr lang="zh-CN" altLang="en-US" sz="150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7007" y="-112149"/>
            <a:ext cx="2051957" cy="1842306"/>
          </a:xfrm>
          <a:prstGeom prst="rect">
            <a:avLst/>
          </a:prstGeom>
        </p:spPr>
        <p:txBody>
          <a:bodyPr vert="horz" wrap="square" lIns="114300" tIns="57150" rIns="114300" bIns="57150" rtlCol="0" anchor="b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sz="6600" b="1">
                <a:solidFill>
                  <a:srgbClr val="A2FFFF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lang="en-US" sz="6600" b="1">
              <a:solidFill>
                <a:srgbClr val="A2FFFF">
                  <a:alpha val="100000"/>
                </a:srgbClr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470902" y="-102387"/>
            <a:ext cx="3926719" cy="1842306"/>
          </a:xfrm>
          <a:prstGeom prst="rect">
            <a:avLst/>
          </a:prstGeom>
        </p:spPr>
        <p:txBody>
          <a:bodyPr vert="horz" wrap="square" lIns="114300" tIns="57150" rIns="114300" bIns="57150" rtlCol="0" anchor="b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sz="6600" b="1">
                <a:solidFill>
                  <a:srgbClr val="A2FFFF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</a:t>
            </a:r>
            <a:endParaRPr lang="en-US" sz="6600" b="1">
              <a:solidFill>
                <a:srgbClr val="A2FFFF">
                  <a:alpha val="100000"/>
                </a:srgbClr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986130" y="1852017"/>
            <a:ext cx="8920950" cy="2326114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45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功能结构</a:t>
            </a:r>
            <a:endParaRPr lang="en-US" sz="4500" b="1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76023" y="265328"/>
            <a:ext cx="11239500" cy="826316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 dirty="0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功能结构图</a:t>
            </a:r>
            <a:endParaRPr lang="en-US" sz="3000" b="1" dirty="0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16800" y="2235958"/>
            <a:ext cx="3905833" cy="1129392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r">
              <a:lnSpc>
                <a:spcPct val="140000"/>
              </a:lnSpc>
            </a:pPr>
            <a:endParaRPr lang="en-US" sz="1500" dirty="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16800" y="1629875"/>
            <a:ext cx="3905833" cy="502799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r">
              <a:lnSpc>
                <a:spcPct val="120000"/>
              </a:lnSpc>
            </a:pPr>
            <a:endParaRPr lang="en-US" sz="2100" b="1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6774" y="5284129"/>
            <a:ext cx="3905833" cy="1143173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r">
              <a:lnSpc>
                <a:spcPct val="140000"/>
              </a:lnSpc>
            </a:pPr>
            <a:endParaRPr lang="en-US" sz="1500" dirty="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7" name="图片 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0"/>
            <a:ext cx="462300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76023" y="265328"/>
            <a:ext cx="11239500" cy="826316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 dirty="0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主要功能</a:t>
            </a:r>
            <a:endParaRPr lang="en-US" sz="3000" b="1" dirty="0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16800" y="2235958"/>
            <a:ext cx="3905833" cy="1129392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r">
              <a:lnSpc>
                <a:spcPct val="140000"/>
              </a:lnSpc>
            </a:pPr>
            <a:endParaRPr lang="en-US" sz="1500" dirty="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16800" y="1629875"/>
            <a:ext cx="3905833" cy="502799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r">
              <a:lnSpc>
                <a:spcPct val="120000"/>
              </a:lnSpc>
            </a:pPr>
            <a:endParaRPr lang="en-US" sz="2100" b="1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6774" y="5284129"/>
            <a:ext cx="3905833" cy="1143173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r">
              <a:lnSpc>
                <a:spcPct val="140000"/>
              </a:lnSpc>
            </a:pPr>
            <a:endParaRPr lang="en-US" sz="1500" dirty="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43200" y="609600"/>
            <a:ext cx="8686800" cy="615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50"/>
              </a:spcBef>
            </a:pPr>
            <a:r>
              <a:rPr lang="zh-CN" altLang="en-US" sz="2000" b="1" i="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企业端</a:t>
            </a:r>
            <a:endParaRPr lang="zh-CN" altLang="en-US" sz="2000" b="0" i="0" dirty="0">
              <a:solidFill>
                <a:schemeClr val="accent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050"/>
              </a:spcBef>
              <a:buFont typeface="+mj-lt"/>
              <a:buAutoNum type="arabicPeriod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助手会话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：提供基于自然语言处理的问答功能，企业用户可选择预置或自定义助手进行问答。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450"/>
              </a:spcBef>
              <a:buFont typeface="+mj-lt"/>
              <a:buAutoNum type="arabicPeriod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模型配置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：允许企业用户查看和管理平台接入的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模型，以便根据问题性质选择最合适的模型。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450"/>
              </a:spcBef>
              <a:buFont typeface="+mj-lt"/>
              <a:buAutoNum type="arabicPeriod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模型微调（模型训练）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：企业用户可通过自定义训练任务，优化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助手在特定业务上的表现。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450"/>
              </a:spcBef>
              <a:buFont typeface="+mj-lt"/>
              <a:buAutoNum type="arabicPeriod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（自定义）知识库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：企业用户可以创建和维护专属的知识库，实现结构化管理和快速查询。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450"/>
              </a:spcBef>
              <a:buFont typeface="+mj-lt"/>
              <a:buAutoNum type="arabicPeriod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构建助手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：提供辅助工具，帮助企业用户快速创建不同类型的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助手。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450"/>
              </a:spcBef>
              <a:buFont typeface="+mj-lt"/>
              <a:buAutoNum type="arabicPeriod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模型评测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：系统提供全面的模型性能评估工具，确保模型的准确性和效率。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450"/>
              </a:spcBef>
              <a:buFont typeface="+mj-lt"/>
              <a:buAutoNum type="arabicPeriod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个人中心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：管理个人账户信息，包括资料编辑、主题色修改和退出登录。</a:t>
            </a:r>
            <a:endParaRPr lang="en-US" altLang="zh-CN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050"/>
              </a:spcBef>
            </a:pPr>
            <a:r>
              <a:rPr lang="zh-CN" altLang="en-US" sz="2000" b="1" i="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平台端</a:t>
            </a:r>
            <a:endParaRPr lang="zh-CN" altLang="en-US" sz="2000" b="0" i="0" dirty="0">
              <a:solidFill>
                <a:schemeClr val="accent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050"/>
              </a:spcBef>
              <a:buFont typeface="+mj-lt"/>
              <a:buAutoNum type="arabicPeriod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助手模板（预置助手）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：提供一系列预配置的助手模板，帮助企业用户快速实现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助手会话。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450"/>
              </a:spcBef>
              <a:buFont typeface="+mj-lt"/>
              <a:buAutoNum type="arabicPeriod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知识库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：平台端有效管理、存储和分类各企业的知识库内容，实现知识有序存储和共享。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450"/>
              </a:spcBef>
              <a:buFont typeface="+mj-lt"/>
              <a:buAutoNum type="arabicPeriod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任务集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：提供丰富的常见任务配置选项，帮助企业用户快速定位并选择主要任务。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450"/>
              </a:spcBef>
              <a:buFont typeface="+mj-lt"/>
              <a:buAutoNum type="arabicPeriod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数据集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：管理训练模型所需的数据集，支持企业用户在微调模型时选择预置数据集。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450"/>
              </a:spcBef>
              <a:buFont typeface="+mj-lt"/>
              <a:buAutoNum type="arabicPeriod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模型配置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：为管理员提供全面的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大模型管理解决方案，确保模型资源合理分配和高效利用。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450"/>
              </a:spcBef>
              <a:buFont typeface="+mj-lt"/>
              <a:buAutoNum type="arabicPeriod"/>
            </a:pPr>
            <a:r>
              <a:rPr lang="en-US" altLang="zh-CN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API</a:t>
            </a: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管理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：实现接口的灵活配置和高效管理，支持添加、删除、查看和更新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API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接口。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450"/>
              </a:spcBef>
              <a:buFont typeface="+mj-lt"/>
              <a:buAutoNum type="arabicPeriod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助手标注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：提供数据标注工具，加速训练过程，确保标注数据的标准化和高质量。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450"/>
              </a:spcBef>
              <a:buFont typeface="+mj-lt"/>
              <a:buAutoNum type="arabicPeriod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性能监控预警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：监控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助手及相关系统的运行状态，及时发现性能问题并通知管理员。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450"/>
              </a:spcBef>
              <a:buFont typeface="+mj-lt"/>
              <a:buAutoNum type="arabicPeriod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系统管理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：管理全部用户行为和信息，包括用户创建、密码设定、角色控制、权限分配等。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450"/>
              </a:spcBef>
            </a:pP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7007" y="-112149"/>
            <a:ext cx="2051957" cy="1842306"/>
          </a:xfrm>
          <a:prstGeom prst="rect">
            <a:avLst/>
          </a:prstGeom>
        </p:spPr>
        <p:txBody>
          <a:bodyPr vert="horz" wrap="square" lIns="114300" tIns="57150" rIns="114300" bIns="57150" rtlCol="0" anchor="b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sz="6600" b="1">
                <a:solidFill>
                  <a:srgbClr val="A2FFFF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lang="en-US" sz="6600" b="1">
              <a:solidFill>
                <a:srgbClr val="A2FFFF">
                  <a:alpha val="100000"/>
                </a:srgbClr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470902" y="-102387"/>
            <a:ext cx="3926719" cy="1842306"/>
          </a:xfrm>
          <a:prstGeom prst="rect">
            <a:avLst/>
          </a:prstGeom>
        </p:spPr>
        <p:txBody>
          <a:bodyPr vert="horz" wrap="square" lIns="114300" tIns="57150" rIns="114300" bIns="57150" rtlCol="0" anchor="b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sz="6600" b="1">
                <a:solidFill>
                  <a:srgbClr val="A2FFFF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</a:t>
            </a:r>
            <a:endParaRPr lang="en-US" sz="6600" b="1">
              <a:solidFill>
                <a:srgbClr val="A2FFFF">
                  <a:alpha val="100000"/>
                </a:srgbClr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986130" y="1852017"/>
            <a:ext cx="8920950" cy="2326114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45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技术栈</a:t>
            </a:r>
            <a:endParaRPr lang="en-US" sz="4500" b="1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465513" y="1454885"/>
            <a:ext cx="11229748" cy="145628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/>
            <a:r>
              <a:rPr lang="en-US" altLang="zh-CN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React</a:t>
            </a: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1500" b="1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altLang="en-US" sz="1500" b="1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1500" b="1" dirty="0" err="1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Shadcn</a:t>
            </a:r>
            <a:r>
              <a:rPr lang="en-US" altLang="zh-CN" sz="15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-UI</a:t>
            </a:r>
            <a:r>
              <a:rPr lang="zh-CN" altLang="en-US" sz="15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050"/>
              </a:spcBef>
            </a:pPr>
            <a:r>
              <a:rPr lang="en-US" altLang="zh-CN" sz="1500" b="1" i="0" dirty="0" err="1">
                <a:effectLst/>
                <a:latin typeface="微软雅黑" panose="020B0503020204020204" charset="-122"/>
                <a:ea typeface="微软雅黑" panose="020B0503020204020204" charset="-122"/>
              </a:rPr>
              <a:t>TailwindCSS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优点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1500" b="0" i="0" dirty="0" err="1">
                <a:effectLst/>
                <a:latin typeface="微软雅黑" panose="020B0503020204020204" charset="-122"/>
                <a:ea typeface="微软雅黑" panose="020B0503020204020204" charset="-122"/>
              </a:rPr>
              <a:t>TailwindCSS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是一个功能类优先的 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CSS 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框架，它提供了一套丰富的实用程序类，允许开发者快速构建和设计页面。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050"/>
              </a:spcBef>
            </a:pPr>
            <a:r>
              <a:rPr lang="en-US" altLang="zh-CN" sz="1500" b="1" i="0" dirty="0" err="1">
                <a:effectLst/>
                <a:latin typeface="微软雅黑" panose="020B0503020204020204" charset="-122"/>
                <a:ea typeface="微软雅黑" panose="020B0503020204020204" charset="-122"/>
              </a:rPr>
              <a:t>Zustand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优点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1500" b="0" i="0" dirty="0" err="1">
                <a:effectLst/>
                <a:latin typeface="微软雅黑" panose="020B0503020204020204" charset="-122"/>
                <a:ea typeface="微软雅黑" panose="020B0503020204020204" charset="-122"/>
              </a:rPr>
              <a:t>Zustand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是一个轻量级的状态管理库，适用于 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React 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应用。它提供了简洁的 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API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，使得状态管理更加容易。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050"/>
              </a:spcBef>
            </a:pPr>
            <a:r>
              <a:rPr lang="en-US" altLang="zh-CN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Vite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优点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Vite 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是一个现代的前端构建工具，它提供了极快的冷启动、即时热模块更新（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HMR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）和丰富的插件生态。</a:t>
            </a:r>
            <a:endParaRPr lang="zh-CN" altLang="en-US" sz="1500" b="1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76023" y="936286"/>
            <a:ext cx="3606165" cy="57578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zh-CN" altLang="en-US" sz="2400" b="1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前端技术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7851998" y="4826443"/>
            <a:ext cx="3834950" cy="145193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  <a:defRPr/>
            </a:pP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851998" y="4125420"/>
            <a:ext cx="3606329" cy="64069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456734" y="1600200"/>
            <a:ext cx="6544887" cy="2525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/>
            <a:r>
              <a:rPr lang="en-US" altLang="zh-CN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Node.js + Express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优点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Node.js 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是一个高效的服务器端 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JavaScript 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运行时环境，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Express 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是一个灵活且易于使用的 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Node.js Web 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应用框架。它们共同提供了强大的后端处理能力。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050"/>
              </a:spcBef>
            </a:pPr>
            <a:r>
              <a:rPr lang="en-US" altLang="zh-CN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SSE</a:t>
            </a: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Server-Sent Events</a:t>
            </a: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优点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SSE 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允许服务器主动向客户端推送数据，适用于实时数据更新场景。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应用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：用于实现助手会话的实时更新、模型训练进度的实时反馈等。</a:t>
            </a:r>
            <a:endParaRPr lang="en-US" altLang="zh-CN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altLang="en-US" sz="1500" b="0" i="0" dirty="0">
              <a:effectLst/>
              <a:latin typeface="PingFang-SC-Regular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76023" y="936286"/>
            <a:ext cx="3606165" cy="57578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zh-CN" altLang="en-US" sz="2400" b="1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后端技术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7851998" y="4826443"/>
            <a:ext cx="3834950" cy="145193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  <a:defRPr/>
            </a:pP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851998" y="4125420"/>
            <a:ext cx="3606329" cy="64069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endParaRPr lang="en-US" sz="1100" dirty="0"/>
          </a:p>
        </p:txBody>
      </p:sp>
      <p:pic>
        <p:nvPicPr>
          <p:cNvPr id="2" name="Picture 4"/>
          <p:cNvPicPr>
            <a:picLocks noChangeAspect="1"/>
          </p:cNvPicPr>
          <p:nvPr/>
        </p:nvPicPr>
        <p:blipFill>
          <a:blip r:embed="rId1"/>
          <a:srcRect l="12500" r="12500"/>
          <a:stretch>
            <a:fillRect/>
          </a:stretch>
        </p:blipFill>
        <p:spPr>
          <a:xfrm>
            <a:off x="7804006" y="1329783"/>
            <a:ext cx="3831201" cy="510826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56793" y="4101772"/>
            <a:ext cx="6096000" cy="50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zh-CN" altLang="en-US" sz="2400" b="1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部署技术</a:t>
            </a:r>
            <a:endParaRPr lang="en-US" altLang="zh-CN" sz="2400" dirty="0"/>
          </a:p>
        </p:txBody>
      </p:sp>
      <p:sp>
        <p:nvSpPr>
          <p:cNvPr id="13" name="文本框 12"/>
          <p:cNvSpPr txBox="1"/>
          <p:nvPr/>
        </p:nvSpPr>
        <p:spPr>
          <a:xfrm>
            <a:off x="582664" y="4606013"/>
            <a:ext cx="6096000" cy="1514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50"/>
              </a:spcBef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基于 </a:t>
            </a:r>
            <a:r>
              <a:rPr lang="en-US" altLang="zh-CN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GitHub Actions </a:t>
            </a: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的 </a:t>
            </a:r>
            <a:r>
              <a:rPr lang="en-US" altLang="zh-CN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Docker </a:t>
            </a: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自动化部署</a:t>
            </a:r>
            <a:endParaRPr lang="en-US" altLang="zh-CN" sz="15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050"/>
              </a:spcBef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优点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GitHub Actions 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是一个强大的持续集成和持续部署（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CI/CD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）平台。结合 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Docker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，我们可以实现自动化的构建、测试和部署流程。</a:t>
            </a:r>
            <a:endParaRPr lang="en-US" altLang="zh-CN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050"/>
              </a:spcBef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解决的问题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：自动化部署减少了手动部署的错误和延迟，提高了部署效率和可靠性。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456734" y="1600200"/>
            <a:ext cx="8915866" cy="58674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spcBef>
                <a:spcPts val="450"/>
              </a:spcBef>
              <a:buFont typeface="+mj-lt"/>
              <a:buAutoNum type="arabicPeriod"/>
            </a:pPr>
            <a:r>
              <a:rPr lang="en-US" altLang="zh-CN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Redis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 algn="l">
              <a:spcBef>
                <a:spcPts val="1050"/>
              </a:spcBef>
              <a:buFont typeface="+mj-lt"/>
              <a:buAutoNum type="arabicPeriod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优点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Redis 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是一个高性能的键值对存储数据库，它支持多种数据类型和丰富的操作命令。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Redis 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的内存存储和快速访问能力使得它非常适合用于缓存和会话管理。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 algn="l">
              <a:spcBef>
                <a:spcPts val="450"/>
              </a:spcBef>
              <a:buFont typeface="+mj-lt"/>
              <a:buAutoNum type="arabicPeriod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解决的问题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Redis 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提高了数据访问速度，减少了数据库查询的延迟，提升了系统的整体性能。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450"/>
              </a:spcBef>
              <a:buFont typeface="+mj-lt"/>
              <a:buAutoNum type="arabicPeriod"/>
            </a:pPr>
            <a:r>
              <a:rPr lang="en-US" altLang="zh-CN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MySQL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altLang="en-US" sz="1500" b="0" i="0" dirty="0">
              <a:effectLst/>
              <a:latin typeface="PingFang-SC-Regular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76023" y="936286"/>
            <a:ext cx="3606165" cy="57578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zh-CN" altLang="en-US" sz="2400" b="1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数据库</a:t>
            </a:r>
            <a:r>
              <a:rPr lang="zh-CN" altLang="en-US" sz="2400" b="1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支持</a:t>
            </a:r>
            <a:endParaRPr lang="zh-CN" altLang="en-US" sz="2400" b="1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851998" y="4826443"/>
            <a:ext cx="3834950" cy="145193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  <a:defRPr/>
            </a:pP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851998" y="4125420"/>
            <a:ext cx="3606329" cy="64069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endParaRPr lang="en-US" sz="1100" dirty="0"/>
          </a:p>
        </p:txBody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>
          <a:blip r:embed="rId1"/>
          <a:srcRect l="23000" r="23000"/>
          <a:stretch>
            <a:fillRect/>
          </a:stretch>
        </p:blipFill>
        <p:spPr>
          <a:xfrm>
            <a:off x="9356834" y="2362200"/>
            <a:ext cx="2792707" cy="37236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7007" y="-112149"/>
            <a:ext cx="2051957" cy="1842306"/>
          </a:xfrm>
          <a:prstGeom prst="rect">
            <a:avLst/>
          </a:prstGeom>
        </p:spPr>
        <p:txBody>
          <a:bodyPr vert="horz" wrap="square" lIns="114300" tIns="57150" rIns="114300" bIns="57150" rtlCol="0" anchor="b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sz="6600" b="1">
                <a:solidFill>
                  <a:srgbClr val="A2FFFF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lang="en-US" sz="6600" b="1">
              <a:solidFill>
                <a:srgbClr val="A2FFFF">
                  <a:alpha val="100000"/>
                </a:srgbClr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470902" y="-102387"/>
            <a:ext cx="3926719" cy="1842306"/>
          </a:xfrm>
          <a:prstGeom prst="rect">
            <a:avLst/>
          </a:prstGeom>
        </p:spPr>
        <p:txBody>
          <a:bodyPr vert="horz" wrap="square" lIns="114300" tIns="57150" rIns="114300" bIns="57150" rtlCol="0" anchor="b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sz="6600" b="1">
                <a:solidFill>
                  <a:srgbClr val="A2FFFF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</a:t>
            </a:r>
            <a:endParaRPr lang="en-US" sz="6600" b="1">
              <a:solidFill>
                <a:srgbClr val="A2FFFF">
                  <a:alpha val="100000"/>
                </a:srgbClr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986130" y="1852017"/>
            <a:ext cx="8920950" cy="2326114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45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可能存在的问题</a:t>
            </a:r>
            <a:endParaRPr lang="en-US" sz="4500" b="1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915400" y="3159466"/>
            <a:ext cx="3126893" cy="2820656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6023" y="265328"/>
            <a:ext cx="11239500" cy="826316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 dirty="0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技术问题及解决方案</a:t>
            </a:r>
            <a:endParaRPr lang="en-US" sz="3000" b="1" dirty="0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76023" y="1063850"/>
            <a:ext cx="8210777" cy="5413150"/>
          </a:xfrm>
          <a:prstGeom prst="roundRect">
            <a:avLst>
              <a:gd name="adj" fmla="val 0"/>
            </a:avLst>
          </a:prstGeom>
          <a:solidFill>
            <a:schemeClr val="lt2">
              <a:alpha val="80000"/>
            </a:schemeClr>
          </a:solidFill>
        </p:spPr>
        <p:txBody>
          <a:bodyPr/>
          <a:lstStyle/>
          <a:p>
            <a:pPr algn="l">
              <a:spcBef>
                <a:spcPts val="1050"/>
              </a:spcBef>
              <a:buFont typeface="+mj-lt"/>
              <a:buAutoNum type="arabicPeriod"/>
            </a:pPr>
            <a:r>
              <a:rPr lang="zh-CN" altLang="en-US" sz="2400" b="1" i="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前端性能优化</a:t>
            </a:r>
            <a:endParaRPr lang="zh-CN" altLang="en-US" sz="2400" b="0" i="0" dirty="0">
              <a:solidFill>
                <a:schemeClr val="accent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 algn="l">
              <a:spcBef>
                <a:spcPts val="1050"/>
              </a:spcBef>
              <a:buFont typeface="+mj-lt"/>
              <a:buAutoNum type="arabicPeriod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问题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：随着平台功能的增加，前端页面的加载速度和响应速度可能会受到影响。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 algn="l">
              <a:spcBef>
                <a:spcPts val="450"/>
              </a:spcBef>
              <a:buFont typeface="+mj-lt"/>
              <a:buAutoNum type="arabicPeriod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解决方案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：采用懒加载、缓存策略等技术优化前端性能。同时，使用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React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的虚拟滚动和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Suspense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等功能来减少不必要的渲染和加载时间。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450"/>
              </a:spcBef>
              <a:buFont typeface="+mj-lt"/>
              <a:buAutoNum type="arabicPeriod"/>
            </a:pPr>
            <a:r>
              <a:rPr lang="zh-CN" altLang="en-US" sz="2400" b="1" i="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后端并发处理</a:t>
            </a:r>
            <a:endParaRPr lang="zh-CN" altLang="en-US" sz="2400" b="0" i="0" dirty="0">
              <a:solidFill>
                <a:schemeClr val="accent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 algn="l">
              <a:spcBef>
                <a:spcPts val="1050"/>
              </a:spcBef>
              <a:buFont typeface="+mj-lt"/>
              <a:buAutoNum type="arabicPeriod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问题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：当大量用户同时访问平台时，后端服务器可能会面临并发处理压力。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 algn="l">
              <a:spcBef>
                <a:spcPts val="450"/>
              </a:spcBef>
              <a:buFont typeface="+mj-lt"/>
              <a:buAutoNum type="arabicPeriod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解决方案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：使用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Node.js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的异步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I/O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和事件驱动特性，结合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Express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框架的路由处理能力，优化后端性能。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450"/>
              </a:spcBef>
              <a:buFont typeface="+mj-lt"/>
              <a:buAutoNum type="arabicPeriod"/>
            </a:pPr>
            <a:r>
              <a:rPr lang="en-US" altLang="zh-CN" sz="2400" b="1" i="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2400" b="1" i="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模型调用效率</a:t>
            </a:r>
            <a:endParaRPr lang="zh-CN" altLang="en-US" sz="2400" b="0" i="0" dirty="0">
              <a:solidFill>
                <a:schemeClr val="accent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 algn="l">
              <a:spcBef>
                <a:spcPts val="1050"/>
              </a:spcBef>
              <a:buFont typeface="+mj-lt"/>
              <a:buAutoNum type="arabicPeriod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问题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模型的调用和响应速度可能受到多种因素的影响，如网络延迟、模型复杂度等。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 algn="l">
              <a:spcBef>
                <a:spcPts val="450"/>
              </a:spcBef>
              <a:buFont typeface="+mj-lt"/>
              <a:buAutoNum type="arabicPeriod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解决方案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：优化模型调用接口，采用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SSE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即时输出。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450"/>
              </a:spcBef>
              <a:buFont typeface="+mj-lt"/>
              <a:buAutoNum type="arabicPeriod"/>
            </a:pPr>
            <a:r>
              <a:rPr lang="zh-CN" altLang="en-US" sz="2400" b="1" i="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数据安全与隐私保护</a:t>
            </a:r>
            <a:endParaRPr lang="zh-CN" altLang="en-US" sz="2400" b="0" i="0" dirty="0">
              <a:solidFill>
                <a:schemeClr val="accent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 algn="l">
              <a:spcBef>
                <a:spcPts val="1050"/>
              </a:spcBef>
              <a:buFont typeface="+mj-lt"/>
              <a:buAutoNum type="arabicPeriod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问题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：平台涉及大量企业数据和用户隐私信息，需要确保数据的安全性和隐私性。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 algn="l">
              <a:spcBef>
                <a:spcPts val="450"/>
              </a:spcBef>
              <a:buFont typeface="+mj-lt"/>
              <a:buAutoNum type="arabicPeriod"/>
            </a:pPr>
            <a:r>
              <a:rPr lang="zh-CN" altLang="en-US" sz="1500" b="1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解决方案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：采用</a:t>
            </a:r>
            <a:r>
              <a:rPr lang="en-US" altLang="zh-CN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HTTPS</a:t>
            </a:r>
            <a:r>
              <a:rPr lang="zh-CN" altLang="en-US" sz="1500" b="0" i="0" dirty="0">
                <a:effectLst/>
                <a:latin typeface="微软雅黑" panose="020B0503020204020204" charset="-122"/>
                <a:ea typeface="微软雅黑" panose="020B0503020204020204" charset="-122"/>
              </a:rPr>
              <a:t>协议、数据加密、访问控制等技术手段保护数据安全。</a:t>
            </a:r>
            <a:endParaRPr lang="zh-CN" altLang="en-US" sz="1500" b="0" i="0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50042" y="2035795"/>
            <a:ext cx="2644651" cy="649939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endParaRPr lang="en-US" sz="2400" b="1" dirty="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09600" y="1744634"/>
            <a:ext cx="6327410" cy="4198965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75" dirty="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sz="1575" dirty="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531" y="3667364"/>
            <a:ext cx="6962775" cy="514350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21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感谢您的观看</a:t>
            </a:r>
            <a:endParaRPr lang="en-US" sz="21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09531" y="2290224"/>
            <a:ext cx="7439025" cy="1266825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 algn="l">
              <a:lnSpc>
                <a:spcPct val="56000"/>
              </a:lnSpc>
            </a:pPr>
            <a:r>
              <a:rPr lang="en-US" sz="9000" b="1">
                <a:solidFill>
                  <a:srgbClr val="A2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</a:t>
            </a:r>
            <a:endParaRPr lang="en-US" sz="9000" b="1">
              <a:solidFill>
                <a:srgbClr val="A2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0.9155118110236,&quot;left&quot;:47.41173228346456,&quot;top&quot;:115.64606299212599,&quot;width&quot;:480.5882677165355}"/>
</p:tagLst>
</file>

<file path=ppt/tags/tag2.xml><?xml version="1.0" encoding="utf-8"?>
<p:tagLst xmlns:p="http://schemas.openxmlformats.org/presentationml/2006/main">
  <p:tag name="KSO_WM_DIAGRAM_VIRTUALLY_FRAME" val="{&quot;height&quot;:350.9155118110236,&quot;left&quot;:47.41173228346456,&quot;top&quot;:115.64606299212599,&quot;width&quot;:480.5882677165355}"/>
</p:tagLst>
</file>

<file path=ppt/tags/tag3.xml><?xml version="1.0" encoding="utf-8"?>
<p:tagLst xmlns:p="http://schemas.openxmlformats.org/presentationml/2006/main">
  <p:tag name="KSO_WM_DIAGRAM_VIRTUALLY_FRAME" val="{&quot;height&quot;:350.9155118110236,&quot;left&quot;:47.41173228346456,&quot;top&quot;:115.64606299212599,&quot;width&quot;:480.5882677165355}"/>
</p:tagLst>
</file>

<file path=ppt/tags/tag4.xml><?xml version="1.0" encoding="utf-8"?>
<p:tagLst xmlns:p="http://schemas.openxmlformats.org/presentationml/2006/main">
  <p:tag name="KSO_WM_DIAGRAM_VIRTUALLY_FRAME" val="{&quot;height&quot;:350.9155118110236,&quot;left&quot;:47.41173228346456,&quot;top&quot;:115.64606299212599,&quot;width&quot;:480.5882677165355}"/>
</p:tagLst>
</file>

<file path=ppt/tags/tag5.xml><?xml version="1.0" encoding="utf-8"?>
<p:tagLst xmlns:p="http://schemas.openxmlformats.org/presentationml/2006/main">
  <p:tag name="KSO_WM_DIAGRAM_VIRTUALLY_FRAME" val="{&quot;height&quot;:350.9155118110236,&quot;left&quot;:47.41173228346456,&quot;top&quot;:115.64606299212599,&quot;width&quot;:480.5882677165355}"/>
</p:tagLst>
</file>

<file path=ppt/tags/tag6.xml><?xml version="1.0" encoding="utf-8"?>
<p:tagLst xmlns:p="http://schemas.openxmlformats.org/presentationml/2006/main">
  <p:tag name="KSO_WM_DIAGRAM_VIRTUALLY_FRAME" val="{&quot;height&quot;:350.9155118110236,&quot;left&quot;:47.41173228346456,&quot;top&quot;:115.64606299212599,&quot;width&quot;:480.5882677165355}"/>
</p:tagLst>
</file>

<file path=ppt/tags/tag7.xml><?xml version="1.0" encoding="utf-8"?>
<p:tagLst xmlns:p="http://schemas.openxmlformats.org/presentationml/2006/main">
  <p:tag name="KSO_WM_DIAGRAM_VIRTUALLY_FRAME" val="{&quot;height&quot;:350.9155118110236,&quot;left&quot;:47.41173228346456,&quot;top&quot;:115.64606299212599,&quot;width&quot;:480.5882677165355}"/>
</p:tagLst>
</file>

<file path=ppt/tags/tag8.xml><?xml version="1.0" encoding="utf-8"?>
<p:tagLst xmlns:p="http://schemas.openxmlformats.org/presentationml/2006/main">
  <p:tag name="KSO_WM_DIAGRAM_VIRTUALLY_FRAME" val="{&quot;height&quot;:350.9155118110236,&quot;left&quot;:47.41173228346456,&quot;top&quot;:115.64606299212599,&quot;width&quot;:480.5882677165355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FFFFFF"/>
      </a:dk1>
      <a:lt1>
        <a:srgbClr val="080C31"/>
      </a:lt1>
      <a:dk2>
        <a:srgbClr val="A2FFFF"/>
      </a:dk2>
      <a:lt2>
        <a:srgbClr val="292C4E"/>
      </a:lt2>
      <a:accent1>
        <a:srgbClr val="4374DF"/>
      </a:accent1>
      <a:accent2>
        <a:srgbClr val="4374DF"/>
      </a:accent2>
      <a:accent3>
        <a:srgbClr val="6A99CD"/>
      </a:accent3>
      <a:accent4>
        <a:srgbClr val="213C75"/>
      </a:accent4>
      <a:accent5>
        <a:srgbClr val="3D73BA"/>
      </a:accent5>
      <a:accent6>
        <a:srgbClr val="5888D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1995</Words>
  <Application>WPS 演示</Application>
  <PresentationFormat>宽屏</PresentationFormat>
  <Paragraphs>139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Arial</vt:lpstr>
      <vt:lpstr>PingFang-SC-Regular</vt:lpstr>
      <vt:lpstr>Arial Unicode MS</vt:lpstr>
      <vt:lpstr>Calibri</vt:lpstr>
      <vt:lpstr>等线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WPS_1226374377</cp:lastModifiedBy>
  <cp:revision>3</cp:revision>
  <dcterms:created xsi:type="dcterms:W3CDTF">2006-08-16T00:00:00Z</dcterms:created>
  <dcterms:modified xsi:type="dcterms:W3CDTF">2024-12-28T03:06:50Z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04F11818F0AA48C5976E134601E30F42_12</vt:lpwstr>
  </property>
  <property fmtid="{D5CDD505-2E9C-101B-9397-08002B2CF9AE}" pid="3" name="KSOProductBuildVer">
    <vt:lpwstr>2052-12.1.0.19770</vt:lpwstr>
  </property>
</Properties>
</file>